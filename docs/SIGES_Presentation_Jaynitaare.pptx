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14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CM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971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26182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809299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80745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679241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60224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19089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13200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M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29321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49752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56927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CM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CC8DE-5505-4007-BBBC-3CA61F0095EF}" type="datetimeFigureOut">
              <a:rPr lang="fr-CM" smtClean="0"/>
              <a:t>26/08/2026</a:t>
            </a:fld>
            <a:endParaRPr lang="fr-CM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5436E-F5EF-4098-AC4C-9633898586BF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79649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à coins arrondis 2"/>
          <p:cNvSpPr/>
          <p:nvPr/>
        </p:nvSpPr>
        <p:spPr>
          <a:xfrm>
            <a:off x="5230368" y="685800"/>
            <a:ext cx="1737360" cy="1737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240" y="804672"/>
            <a:ext cx="1499616" cy="1499616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1524305" y="251460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6600" b="1" smtClean="0">
                <a:solidFill>
                  <a:srgbClr val="FFFFFF"/>
                </a:solidFill>
                <a:latin typeface="Georgia" panose="02040502050405020303" pitchFamily="18" charset="0"/>
              </a:rPr>
              <a:t>SIGES</a:t>
            </a:r>
            <a:endParaRPr lang="fr-CM" sz="6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524305" y="342900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900" smtClean="0">
                <a:solidFill>
                  <a:srgbClr val="F0C230"/>
                </a:solidFill>
                <a:latin typeface="Segoe UI" panose="020B0502040204020203" pitchFamily="34" charset="0"/>
              </a:rPr>
              <a:t>Systeme Integre de Gestion des Etablissements Scolaires</a:t>
            </a:r>
            <a:endParaRPr lang="fr-CM" sz="1900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39105" y="3977640"/>
            <a:ext cx="914400" cy="27432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ZoneTexte 7"/>
          <p:cNvSpPr txBox="1"/>
          <p:nvPr/>
        </p:nvSpPr>
        <p:spPr>
          <a:xfrm>
            <a:off x="1524305" y="41605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600" i="1" smtClean="0">
                <a:solidFill>
                  <a:srgbClr val="FFFFFF"/>
                </a:solidFill>
                <a:latin typeface="Segoe UI" panose="020B0502040204020203" pitchFamily="34" charset="0"/>
              </a:rPr>
              <a:t>Presentation aux futurs utilisateurs</a:t>
            </a:r>
            <a:endParaRPr lang="fr-CM" sz="1600" i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524305" y="6126480"/>
            <a:ext cx="9144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300" smtClean="0">
                <a:solidFill>
                  <a:srgbClr val="AEB5C9"/>
                </a:solidFill>
                <a:latin typeface="Segoe UI" panose="020B0502040204020203" pitchFamily="34" charset="0"/>
              </a:rPr>
              <a:t>Cas d'usage : GSBI Les Poussins de Jaynitaare   -   26 aout 2026</a:t>
            </a:r>
            <a:endParaRPr lang="fr-CM" sz="1300">
              <a:solidFill>
                <a:srgbClr val="AEB5C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419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00"/>
                            </p:stCondLst>
                            <p:childTnLst>
                              <p:par>
                                <p:cTn id="8" presetID="0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85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0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5" grpId="0" autoUpdateAnimBg="0"/>
      <p:bldP spid="6" grpId="0" autoUpdateAnimBg="0"/>
      <p:bldP spid="7" grpId="0" animBg="1" autoUpdateAnimBg="0"/>
      <p:bldP spid="8" grpId="0" autoUpdateAnimBg="0"/>
      <p:bldP spid="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3108960" y="0"/>
            <a:ext cx="45720" cy="6858000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640080"/>
            <a:ext cx="18288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3000" smtClean="0">
                <a:solidFill>
                  <a:srgbClr val="F0C230"/>
                </a:solidFill>
                <a:latin typeface="Segoe UI" panose="020B0502040204020203" pitchFamily="34" charset="0"/>
              </a:rPr>
              <a:t>◆</a:t>
            </a:r>
            <a:endParaRPr lang="fr-CM" sz="3000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1371600"/>
            <a:ext cx="237744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Sommaire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40080" y="2148840"/>
            <a:ext cx="2286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300" smtClean="0">
                <a:solidFill>
                  <a:srgbClr val="AEB5C9"/>
                </a:solidFill>
                <a:latin typeface="Segoe UI" panose="020B0502040204020203" pitchFamily="34" charset="0"/>
              </a:rPr>
              <a:t>Ce que couvre cette presentation</a:t>
            </a:r>
            <a:endParaRPr lang="fr-CM" sz="1300">
              <a:solidFill>
                <a:srgbClr val="AEB5C9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429000" y="5760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/>
          <p:cNvSpPr txBox="1"/>
          <p:nvPr/>
        </p:nvSpPr>
        <p:spPr>
          <a:xfrm>
            <a:off x="3429000" y="576072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01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4114800" y="484632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Qu'est-ce que SIGES ?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114800" y="832104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Vue d'ensemble du systeme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3429000" y="13624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ZoneTexte 12"/>
          <p:cNvSpPr txBox="1"/>
          <p:nvPr/>
        </p:nvSpPr>
        <p:spPr>
          <a:xfrm>
            <a:off x="3429000" y="1362456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02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114800" y="1271016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Navigation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114800" y="1618488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Comment se deplacer dans l'application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3429000" y="2148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7" name="ZoneTexte 16"/>
          <p:cNvSpPr txBox="1"/>
          <p:nvPr/>
        </p:nvSpPr>
        <p:spPr>
          <a:xfrm>
            <a:off x="3429000" y="2148840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03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4114800" y="2057400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Cas d'utilisation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4114800" y="2404872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Ce que chaque profil peut faire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3429000" y="29352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1" name="ZoneTexte 20"/>
          <p:cNvSpPr txBox="1"/>
          <p:nvPr/>
        </p:nvSpPr>
        <p:spPr>
          <a:xfrm>
            <a:off x="3429000" y="2935224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04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114800" y="2843784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Apercu de l'interface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4114800" y="3191256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Captures d'ecran reelles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3429000" y="37216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5" name="ZoneTexte 24"/>
          <p:cNvSpPr txBox="1"/>
          <p:nvPr/>
        </p:nvSpPr>
        <p:spPr>
          <a:xfrm>
            <a:off x="3429000" y="3721608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05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4114800" y="3630168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Configuration requise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114800" y="3977640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Materiel necessaire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Rectangle à coins arrondis 27"/>
          <p:cNvSpPr/>
          <p:nvPr/>
        </p:nvSpPr>
        <p:spPr>
          <a:xfrm>
            <a:off x="3429000" y="45079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9" name="ZoneTexte 28"/>
          <p:cNvSpPr txBox="1"/>
          <p:nvPr/>
        </p:nvSpPr>
        <p:spPr>
          <a:xfrm>
            <a:off x="3429000" y="4507992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06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4114800" y="4416552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Hebergement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114800" y="4764024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Local ou cloud : les avantages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32" name="Rectangle à coins arrondis 31"/>
          <p:cNvSpPr/>
          <p:nvPr/>
        </p:nvSpPr>
        <p:spPr>
          <a:xfrm>
            <a:off x="3429000" y="52943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3" name="ZoneTexte 32"/>
          <p:cNvSpPr txBox="1"/>
          <p:nvPr/>
        </p:nvSpPr>
        <p:spPr>
          <a:xfrm>
            <a:off x="3429000" y="5294376"/>
            <a:ext cx="45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FFFFF"/>
                </a:solidFill>
                <a:latin typeface="Segoe UI" panose="020B0502040204020203" pitchFamily="34" charset="0"/>
              </a:rPr>
              <a:t>07</a:t>
            </a:r>
            <a:endParaRPr lang="fr-CM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4114800" y="5202936"/>
            <a:ext cx="6858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700" b="1" smtClean="0">
                <a:solidFill>
                  <a:srgbClr val="1A2744"/>
                </a:solidFill>
                <a:latin typeface="Segoe UI" panose="020B0502040204020203" pitchFamily="34" charset="0"/>
              </a:rPr>
              <a:t>Securite &amp; fiabilite</a:t>
            </a:r>
            <a:endParaRPr lang="fr-CM" sz="17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4114800" y="5550408"/>
            <a:ext cx="685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smtClean="0">
                <a:solidFill>
                  <a:srgbClr val="6B7280"/>
                </a:solidFill>
                <a:latin typeface="Segoe UI" panose="020B0502040204020203" pitchFamily="34" charset="0"/>
              </a:rPr>
              <a:t>Tracabilite et documents verifiables</a:t>
            </a:r>
            <a:endParaRPr lang="fr-CM" sz="12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529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0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5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12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63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180"/>
                            </p:stCondLst>
                            <p:childTnLst>
                              <p:par>
                                <p:cTn id="26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730"/>
                            </p:stCondLst>
                            <p:childTnLst>
                              <p:par>
                                <p:cTn id="29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350"/>
                            </p:stCondLst>
                            <p:childTnLst>
                              <p:par>
                                <p:cTn id="32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860"/>
                            </p:stCondLst>
                            <p:childTnLst>
                              <p:par>
                                <p:cTn id="3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410"/>
                            </p:stCondLst>
                            <p:childTnLst>
                              <p:par>
                                <p:cTn id="38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960"/>
                            </p:stCondLst>
                            <p:childTnLst>
                              <p:par>
                                <p:cTn id="41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80"/>
                            </p:stCondLst>
                            <p:childTnLst>
                              <p:par>
                                <p:cTn id="44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90"/>
                            </p:stCondLst>
                            <p:childTnLst>
                              <p:par>
                                <p:cTn id="47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640"/>
                            </p:stCondLst>
                            <p:childTnLst>
                              <p:par>
                                <p:cTn id="50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190"/>
                            </p:stCondLst>
                            <p:childTnLst>
                              <p:par>
                                <p:cTn id="53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810"/>
                            </p:stCondLst>
                            <p:childTnLst>
                              <p:par>
                                <p:cTn id="56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320"/>
                            </p:stCondLst>
                            <p:childTnLst>
                              <p:par>
                                <p:cTn id="59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870"/>
                            </p:stCondLst>
                            <p:childTnLst>
                              <p:par>
                                <p:cTn id="62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420"/>
                            </p:stCondLst>
                            <p:childTnLst>
                              <p:par>
                                <p:cTn id="65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2040"/>
                            </p:stCondLst>
                            <p:childTnLst>
                              <p:par>
                                <p:cTn id="68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550"/>
                            </p:stCondLst>
                            <p:childTnLst>
                              <p:par>
                                <p:cTn id="71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3100"/>
                            </p:stCondLst>
                            <p:childTnLst>
                              <p:par>
                                <p:cTn id="74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650"/>
                            </p:stCondLst>
                            <p:childTnLst>
                              <p:par>
                                <p:cTn id="77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4270"/>
                            </p:stCondLst>
                            <p:childTnLst>
                              <p:par>
                                <p:cTn id="80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780"/>
                            </p:stCondLst>
                            <p:childTnLst>
                              <p:par>
                                <p:cTn id="83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330"/>
                            </p:stCondLst>
                            <p:childTnLst>
                              <p:par>
                                <p:cTn id="86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880"/>
                            </p:stCondLst>
                            <p:childTnLst>
                              <p:par>
                                <p:cTn id="89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6500"/>
                            </p:stCondLst>
                            <p:childTnLst>
                              <p:par>
                                <p:cTn id="92" presetID="0" presetClass="entr" presetSubtype="0" fill="hold" grpId="0" nodeType="after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010"/>
                            </p:stCondLst>
                            <p:childTnLst>
                              <p:par>
                                <p:cTn id="9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7560"/>
                            </p:stCondLst>
                            <p:childTnLst>
                              <p:par>
                                <p:cTn id="98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  <p:bldP spid="5" grpId="0" autoUpdateAnimBg="0"/>
      <p:bldP spid="6" grpId="0" autoUpdateAnimBg="0"/>
      <p:bldP spid="7" grpId="0" autoUpdateAnimBg="0"/>
      <p:bldP spid="8" grpId="0" animBg="1" autoUpdateAnimBg="0"/>
      <p:bldP spid="9" grpId="0" autoUpdateAnimBg="0"/>
      <p:bldP spid="10" grpId="0" autoUpdateAnimBg="0"/>
      <p:bldP spid="11" grpId="0" autoUpdateAnimBg="0"/>
      <p:bldP spid="12" grpId="0" animBg="1" autoUpdateAnimBg="0"/>
      <p:bldP spid="13" grpId="0" autoUpdateAnimBg="0"/>
      <p:bldP spid="14" grpId="0" autoUpdateAnimBg="0"/>
      <p:bldP spid="15" grpId="0" autoUpdateAnimBg="0"/>
      <p:bldP spid="16" grpId="0" animBg="1" autoUpdateAnimBg="0"/>
      <p:bldP spid="17" grpId="0" autoUpdateAnimBg="0"/>
      <p:bldP spid="18" grpId="0" autoUpdateAnimBg="0"/>
      <p:bldP spid="19" grpId="0" autoUpdateAnimBg="0"/>
      <p:bldP spid="20" grpId="0" animBg="1" autoUpdateAnimBg="0"/>
      <p:bldP spid="21" grpId="0" autoUpdateAnimBg="0"/>
      <p:bldP spid="22" grpId="0" autoUpdateAnimBg="0"/>
      <p:bldP spid="23" grpId="0" autoUpdateAnimBg="0"/>
      <p:bldP spid="24" grpId="0" animBg="1" autoUpdateAnimBg="0"/>
      <p:bldP spid="25" grpId="0" autoUpdateAnimBg="0"/>
      <p:bldP spid="26" grpId="0" autoUpdateAnimBg="0"/>
      <p:bldP spid="27" grpId="0" autoUpdateAnimBg="0"/>
      <p:bldP spid="28" grpId="0" animBg="1" autoUpdateAnimBg="0"/>
      <p:bldP spid="29" grpId="0" autoUpdateAnimBg="0"/>
      <p:bldP spid="30" grpId="0" autoUpdateAnimBg="0"/>
      <p:bldP spid="31" grpId="0" autoUpdateAnimBg="0"/>
      <p:bldP spid="32" grpId="0" animBg="1" autoUpdateAnimBg="0"/>
      <p:bldP spid="33" grpId="0" autoUpdateAnimBg="0"/>
      <p:bldP spid="34" grpId="0" autoUpdateAnimBg="0"/>
      <p:bldP spid="35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01 - VUE D'ENSEMBLE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Qu'est-ce que SIGES ?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640080" y="1508760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500" smtClean="0">
                <a:solidFill>
                  <a:srgbClr val="1E2A3A"/>
                </a:solidFill>
                <a:latin typeface="Segoe UI" panose="020B0502040204020203" pitchFamily="34" charset="0"/>
              </a:rPr>
              <a:t>SIGES centralise tout le pilotage d'un etablissement scolaire : de l'inscription d'un eleve a la remise de son bulletin, en passant par les paiements, les notes et la gestion du personnel. Bilingue (pistes francaise et arabe), il s'adapte au role de chaque utilisateur.</a:t>
            </a:r>
            <a:endParaRPr lang="fr-CM" sz="150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640080" y="3520440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Rectangle 8"/>
          <p:cNvSpPr/>
          <p:nvPr/>
        </p:nvSpPr>
        <p:spPr>
          <a:xfrm>
            <a:off x="640080" y="3520440"/>
            <a:ext cx="91440" cy="713232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0" name="ZoneTexte 9"/>
          <p:cNvSpPr txBox="1"/>
          <p:nvPr/>
        </p:nvSpPr>
        <p:spPr>
          <a:xfrm>
            <a:off x="914400" y="3593592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400" b="1" smtClean="0">
                <a:solidFill>
                  <a:srgbClr val="1A2744"/>
                </a:solidFill>
                <a:latin typeface="Segoe UI" panose="020B0502040204020203" pitchFamily="34" charset="0"/>
              </a:rPr>
              <a:t>Scolarite</a:t>
            </a:r>
            <a:endParaRPr lang="fr-CM" sz="14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914400" y="3886200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100" smtClean="0">
                <a:solidFill>
                  <a:srgbClr val="6B7280"/>
                </a:solidFill>
                <a:latin typeface="Segoe UI" panose="020B0502040204020203" pitchFamily="34" charset="0"/>
              </a:rPr>
              <a:t>Eleves, classes, inscriptions</a:t>
            </a:r>
            <a:endParaRPr lang="fr-CM" sz="11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640080" y="4361688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Rectangle 12"/>
          <p:cNvSpPr/>
          <p:nvPr/>
        </p:nvSpPr>
        <p:spPr>
          <a:xfrm>
            <a:off x="640080" y="4361688"/>
            <a:ext cx="91440" cy="713232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4" name="ZoneTexte 13"/>
          <p:cNvSpPr txBox="1"/>
          <p:nvPr/>
        </p:nvSpPr>
        <p:spPr>
          <a:xfrm>
            <a:off x="914400" y="4434840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400" b="1" smtClean="0">
                <a:solidFill>
                  <a:srgbClr val="1A2744"/>
                </a:solidFill>
                <a:latin typeface="Segoe UI" panose="020B0502040204020203" pitchFamily="34" charset="0"/>
              </a:rPr>
              <a:t>Pedagogie</a:t>
            </a:r>
            <a:endParaRPr lang="fr-CM" sz="14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914400" y="4727448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100" smtClean="0">
                <a:solidFill>
                  <a:srgbClr val="6B7280"/>
                </a:solidFill>
                <a:latin typeface="Segoe UI" panose="020B0502040204020203" pitchFamily="34" charset="0"/>
              </a:rPr>
              <a:t>Notes, bulletins, conseils de classe</a:t>
            </a:r>
            <a:endParaRPr lang="fr-CM" sz="11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Rectangle à coins arrondis 15"/>
          <p:cNvSpPr/>
          <p:nvPr/>
        </p:nvSpPr>
        <p:spPr>
          <a:xfrm>
            <a:off x="640080" y="5202936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7" name="Rectangle 16"/>
          <p:cNvSpPr/>
          <p:nvPr/>
        </p:nvSpPr>
        <p:spPr>
          <a:xfrm>
            <a:off x="640080" y="5202936"/>
            <a:ext cx="91440" cy="713232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8" name="ZoneTexte 17"/>
          <p:cNvSpPr txBox="1"/>
          <p:nvPr/>
        </p:nvSpPr>
        <p:spPr>
          <a:xfrm>
            <a:off x="914400" y="5276088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400" b="1" smtClean="0">
                <a:solidFill>
                  <a:srgbClr val="1A2744"/>
                </a:solidFill>
                <a:latin typeface="Segoe UI" panose="020B0502040204020203" pitchFamily="34" charset="0"/>
              </a:rPr>
              <a:t>Finances</a:t>
            </a:r>
            <a:endParaRPr lang="fr-CM" sz="14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914400" y="5568696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100" smtClean="0">
                <a:solidFill>
                  <a:srgbClr val="6B7280"/>
                </a:solidFill>
                <a:latin typeface="Segoe UI" panose="020B0502040204020203" pitchFamily="34" charset="0"/>
              </a:rPr>
              <a:t>Paiements, depenses, statistiques</a:t>
            </a:r>
            <a:endParaRPr lang="fr-CM" sz="11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640080" y="6044184"/>
            <a:ext cx="539496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1" name="Rectangle 20"/>
          <p:cNvSpPr/>
          <p:nvPr/>
        </p:nvSpPr>
        <p:spPr>
          <a:xfrm>
            <a:off x="640080" y="6044184"/>
            <a:ext cx="91440" cy="713232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2" name="ZoneTexte 21"/>
          <p:cNvSpPr txBox="1"/>
          <p:nvPr/>
        </p:nvSpPr>
        <p:spPr>
          <a:xfrm>
            <a:off x="914400" y="6117336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400" b="1" smtClean="0">
                <a:solidFill>
                  <a:srgbClr val="1A2744"/>
                </a:solidFill>
                <a:latin typeface="Segoe UI" panose="020B0502040204020203" pitchFamily="34" charset="0"/>
              </a:rPr>
              <a:t>Ressources humaines</a:t>
            </a:r>
            <a:endParaRPr lang="fr-CM" sz="14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914400" y="6409944"/>
            <a:ext cx="493776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100" smtClean="0">
                <a:solidFill>
                  <a:srgbClr val="6B7280"/>
                </a:solidFill>
                <a:latin typeface="Segoe UI" panose="020B0502040204020203" pitchFamily="34" charset="0"/>
              </a:rPr>
              <a:t>Personnel, contrats, paie</a:t>
            </a:r>
            <a:endParaRPr lang="fr-CM" sz="110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 à coins arrondis 23"/>
          <p:cNvSpPr/>
          <p:nvPr/>
        </p:nvSpPr>
        <p:spPr>
          <a:xfrm>
            <a:off x="6400800" y="1508760"/>
            <a:ext cx="5166360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5" name="Rectangle 24"/>
          <p:cNvSpPr/>
          <p:nvPr/>
        </p:nvSpPr>
        <p:spPr>
          <a:xfrm>
            <a:off x="6400800" y="1508760"/>
            <a:ext cx="5166360" cy="329184"/>
          </a:xfrm>
          <a:prstGeom prst="rect">
            <a:avLst/>
          </a:prstGeom>
          <a:solidFill>
            <a:srgbClr val="0F1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6" name="Rectangle à coins arrondis 25"/>
          <p:cNvSpPr/>
          <p:nvPr/>
        </p:nvSpPr>
        <p:spPr>
          <a:xfrm>
            <a:off x="6565392" y="1636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7" name="Rectangle à coins arrondis 26"/>
          <p:cNvSpPr/>
          <p:nvPr/>
        </p:nvSpPr>
        <p:spPr>
          <a:xfrm>
            <a:off x="6729984" y="1636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F0C2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8" name="Rectangle à coins arrondis 27"/>
          <p:cNvSpPr/>
          <p:nvPr/>
        </p:nvSpPr>
        <p:spPr>
          <a:xfrm>
            <a:off x="6894576" y="1636776"/>
            <a:ext cx="914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140" y="1965960"/>
            <a:ext cx="4297680" cy="429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22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5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7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99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2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50"/>
                            </p:stCondLst>
                            <p:childTnLst>
                              <p:par>
                                <p:cTn id="26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670"/>
                            </p:stCondLst>
                            <p:childTnLst>
                              <p:par>
                                <p:cTn id="29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190"/>
                            </p:stCondLst>
                            <p:childTnLst>
                              <p:par>
                                <p:cTn id="32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720"/>
                            </p:stCondLst>
                            <p:childTnLst>
                              <p:par>
                                <p:cTn id="35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250"/>
                            </p:stCondLst>
                            <p:childTnLst>
                              <p:par>
                                <p:cTn id="38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870"/>
                            </p:stCondLst>
                            <p:childTnLst>
                              <p:par>
                                <p:cTn id="41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390"/>
                            </p:stCondLst>
                            <p:childTnLst>
                              <p:par>
                                <p:cTn id="44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920"/>
                            </p:stCondLst>
                            <p:childTnLst>
                              <p:par>
                                <p:cTn id="47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450"/>
                            </p:stCondLst>
                            <p:childTnLst>
                              <p:par>
                                <p:cTn id="50" presetID="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70"/>
                            </p:stCondLst>
                            <p:childTnLst>
                              <p:par>
                                <p:cTn id="53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9590"/>
                            </p:stCondLst>
                            <p:childTnLst>
                              <p:par>
                                <p:cTn id="56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120"/>
                            </p:stCondLst>
                            <p:childTnLst>
                              <p:par>
                                <p:cTn id="59" presetID="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65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13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nimBg="1" autoUpdateAnimBg="0"/>
      <p:bldP spid="9" grpId="0" animBg="1" autoUpdateAnimBg="0"/>
      <p:bldP spid="10" grpId="0" autoUpdateAnimBg="0"/>
      <p:bldP spid="11" grpId="0" autoUpdateAnimBg="0"/>
      <p:bldP spid="12" grpId="0" animBg="1" autoUpdateAnimBg="0"/>
      <p:bldP spid="13" grpId="0" animBg="1" autoUpdateAnimBg="0"/>
      <p:bldP spid="14" grpId="0" autoUpdateAnimBg="0"/>
      <p:bldP spid="15" grpId="0" autoUpdateAnimBg="0"/>
      <p:bldP spid="16" grpId="0" animBg="1" autoUpdateAnimBg="0"/>
      <p:bldP spid="17" grpId="0" animBg="1" autoUpdateAnimBg="0"/>
      <p:bldP spid="18" grpId="0" autoUpdateAnimBg="0"/>
      <p:bldP spid="19" grpId="0" autoUpdateAnimBg="0"/>
      <p:bldP spid="20" grpId="0" animBg="1" autoUpdateAnimBg="0"/>
      <p:bldP spid="21" grpId="0" animBg="1" autoUpdateAnimBg="0"/>
      <p:bldP spid="22" grpId="0" autoUpdateAnimBg="0"/>
      <p:bldP spid="23" grpId="0" autoUpdateAnimBg="0"/>
      <p:bldP spid="24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02 - NAVIGATION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Comment naviguer dans SIGES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4724705" y="1600200"/>
            <a:ext cx="2743200" cy="777240"/>
          </a:xfrm>
          <a:prstGeom prst="roundRect">
            <a:avLst>
              <a:gd name="adj" fmla="val 18000"/>
            </a:avLst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ZoneTexte 7"/>
          <p:cNvSpPr txBox="1"/>
          <p:nvPr/>
        </p:nvSpPr>
        <p:spPr>
          <a:xfrm>
            <a:off x="4724705" y="1737360"/>
            <a:ext cx="2743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700" b="1" smtClean="0">
                <a:solidFill>
                  <a:srgbClr val="FFFFFF"/>
                </a:solidFill>
                <a:latin typeface="Segoe UI" panose="020B0502040204020203" pitchFamily="34" charset="0"/>
              </a:rPr>
              <a:t>Tableau de bord</a:t>
            </a:r>
            <a:endParaRPr lang="fr-CM" sz="17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cxnSp>
        <p:nvCxnSpPr>
          <p:cNvPr id="9" name="Connecteur droit 8"/>
          <p:cNvCxnSpPr/>
          <p:nvPr/>
        </p:nvCxnSpPr>
        <p:spPr>
          <a:xfrm flipH="1">
            <a:off x="1455268" y="2377440"/>
            <a:ext cx="4641037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à coins arrondis 9"/>
          <p:cNvSpPr/>
          <p:nvPr/>
        </p:nvSpPr>
        <p:spPr>
          <a:xfrm>
            <a:off x="609448" y="4160520"/>
            <a:ext cx="1691639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1" name="Rectangle 10"/>
          <p:cNvSpPr/>
          <p:nvPr/>
        </p:nvSpPr>
        <p:spPr>
          <a:xfrm>
            <a:off x="609448" y="4160520"/>
            <a:ext cx="1691639" cy="82296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2" name="ZoneTexte 11"/>
          <p:cNvSpPr txBox="1"/>
          <p:nvPr/>
        </p:nvSpPr>
        <p:spPr>
          <a:xfrm>
            <a:off x="682600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Scolarite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682600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Eleves, classes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cxnSp>
        <p:nvCxnSpPr>
          <p:cNvPr id="14" name="Connecteur droit 13"/>
          <p:cNvCxnSpPr/>
          <p:nvPr/>
        </p:nvCxnSpPr>
        <p:spPr>
          <a:xfrm flipH="1">
            <a:off x="3311499" y="2377440"/>
            <a:ext cx="2784806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à coins arrondis 14"/>
          <p:cNvSpPr/>
          <p:nvPr/>
        </p:nvSpPr>
        <p:spPr>
          <a:xfrm>
            <a:off x="2465680" y="4160520"/>
            <a:ext cx="1691639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6" name="Rectangle 15"/>
          <p:cNvSpPr/>
          <p:nvPr/>
        </p:nvSpPr>
        <p:spPr>
          <a:xfrm>
            <a:off x="2465680" y="4160520"/>
            <a:ext cx="1691639" cy="82296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7" name="ZoneTexte 16"/>
          <p:cNvSpPr txBox="1"/>
          <p:nvPr/>
        </p:nvSpPr>
        <p:spPr>
          <a:xfrm>
            <a:off x="2538832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Finances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538832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Paiements, depenses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cxnSp>
        <p:nvCxnSpPr>
          <p:cNvPr id="19" name="Connecteur droit 18"/>
          <p:cNvCxnSpPr/>
          <p:nvPr/>
        </p:nvCxnSpPr>
        <p:spPr>
          <a:xfrm flipH="1">
            <a:off x="5167731" y="2377440"/>
            <a:ext cx="928574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à coins arrondis 19"/>
          <p:cNvSpPr/>
          <p:nvPr/>
        </p:nvSpPr>
        <p:spPr>
          <a:xfrm>
            <a:off x="4321912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1" name="Rectangle 20"/>
          <p:cNvSpPr/>
          <p:nvPr/>
        </p:nvSpPr>
        <p:spPr>
          <a:xfrm>
            <a:off x="4321912" y="4160520"/>
            <a:ext cx="1691640" cy="82296"/>
          </a:xfrm>
          <a:prstGeom prst="rect">
            <a:avLst/>
          </a:prstGeom>
          <a:solidFill>
            <a:srgbClr val="F8717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2" name="ZoneTexte 21"/>
          <p:cNvSpPr txBox="1"/>
          <p:nvPr/>
        </p:nvSpPr>
        <p:spPr>
          <a:xfrm>
            <a:off x="4395064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Discipline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4395064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Absences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cxnSp>
        <p:nvCxnSpPr>
          <p:cNvPr id="24" name="Connecteur droit 23"/>
          <p:cNvCxnSpPr/>
          <p:nvPr/>
        </p:nvCxnSpPr>
        <p:spPr>
          <a:xfrm>
            <a:off x="6096305" y="2377440"/>
            <a:ext cx="927659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à coins arrondis 24"/>
          <p:cNvSpPr/>
          <p:nvPr/>
        </p:nvSpPr>
        <p:spPr>
          <a:xfrm>
            <a:off x="6178143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6" name="Rectangle 25"/>
          <p:cNvSpPr/>
          <p:nvPr/>
        </p:nvSpPr>
        <p:spPr>
          <a:xfrm>
            <a:off x="6178143" y="4160520"/>
            <a:ext cx="1691640" cy="82296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7" name="ZoneTexte 26"/>
          <p:cNvSpPr txBox="1"/>
          <p:nvPr/>
        </p:nvSpPr>
        <p:spPr>
          <a:xfrm>
            <a:off x="6251296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Pedagogie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6251296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Notes, bulletins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cxnSp>
        <p:nvCxnSpPr>
          <p:cNvPr id="29" name="Connecteur droit 28"/>
          <p:cNvCxnSpPr/>
          <p:nvPr/>
        </p:nvCxnSpPr>
        <p:spPr>
          <a:xfrm>
            <a:off x="6096305" y="2377440"/>
            <a:ext cx="2783891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à coins arrondis 29"/>
          <p:cNvSpPr/>
          <p:nvPr/>
        </p:nvSpPr>
        <p:spPr>
          <a:xfrm>
            <a:off x="8034375" y="4160520"/>
            <a:ext cx="1691641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1" name="Rectangle 30"/>
          <p:cNvSpPr/>
          <p:nvPr/>
        </p:nvSpPr>
        <p:spPr>
          <a:xfrm>
            <a:off x="8034375" y="4160520"/>
            <a:ext cx="1691641" cy="82296"/>
          </a:xfrm>
          <a:prstGeom prst="rect">
            <a:avLst/>
          </a:prstGeom>
          <a:solidFill>
            <a:srgbClr val="F472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2" name="ZoneTexte 31"/>
          <p:cNvSpPr txBox="1"/>
          <p:nvPr/>
        </p:nvSpPr>
        <p:spPr>
          <a:xfrm>
            <a:off x="8107528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Ressources humaines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8107528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Personnel, paie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cxnSp>
        <p:nvCxnSpPr>
          <p:cNvPr id="34" name="Connecteur droit 33"/>
          <p:cNvCxnSpPr/>
          <p:nvPr/>
        </p:nvCxnSpPr>
        <p:spPr>
          <a:xfrm>
            <a:off x="6096305" y="2377440"/>
            <a:ext cx="4640123" cy="1783080"/>
          </a:xfrm>
          <a:prstGeom prst="line">
            <a:avLst/>
          </a:prstGeom>
          <a:ln w="15875">
            <a:solidFill>
              <a:srgbClr val="C9C2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à coins arrondis 34"/>
          <p:cNvSpPr/>
          <p:nvPr/>
        </p:nvSpPr>
        <p:spPr>
          <a:xfrm>
            <a:off x="9890608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6" name="Rectangle 35"/>
          <p:cNvSpPr/>
          <p:nvPr/>
        </p:nvSpPr>
        <p:spPr>
          <a:xfrm>
            <a:off x="9890608" y="4160520"/>
            <a:ext cx="1691640" cy="82296"/>
          </a:xfrm>
          <a:prstGeom prst="rect">
            <a:avLst/>
          </a:prstGeom>
          <a:solidFill>
            <a:srgbClr val="94A3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7" name="ZoneTexte 36"/>
          <p:cNvSpPr txBox="1"/>
          <p:nvPr/>
        </p:nvSpPr>
        <p:spPr>
          <a:xfrm>
            <a:off x="9963759" y="4398264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Parametres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9963759" y="4983480"/>
            <a:ext cx="1545336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950" smtClean="0">
                <a:solidFill>
                  <a:srgbClr val="6B7280"/>
                </a:solidFill>
                <a:latin typeface="Segoe UI" panose="020B0502040204020203" pitchFamily="34" charset="0"/>
              </a:rPr>
              <a:t>Utilisateurs, config</a:t>
            </a:r>
            <a:endParaRPr lang="fr-CM" sz="9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822960" y="5989320"/>
            <a:ext cx="1051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i="1" smtClean="0">
                <a:solidFill>
                  <a:srgbClr val="6B7280"/>
                </a:solidFill>
                <a:latin typeface="Segoe UI" panose="020B0502040204020203" pitchFamily="34" charset="0"/>
              </a:rPr>
              <a:t>Menu lateral a accordeon : les rubriques affichees s'adaptent automatiquement au role connecte (Directeur, Secretaire, Enseignant, Agent financier).</a:t>
            </a:r>
            <a:endParaRPr lang="fr-CM" sz="1250" i="1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611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5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0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980"/>
                            </p:stCondLst>
                            <p:childTnLst>
                              <p:par>
                                <p:cTn id="2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8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1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65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2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8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38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9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450"/>
                            </p:stCondLst>
                            <p:childTnLst>
                              <p:par>
                                <p:cTn id="5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000"/>
                            </p:stCondLst>
                            <p:childTnLst>
                              <p:par>
                                <p:cTn id="56" presetID="9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858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18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97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25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8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1380"/>
                            </p:stCondLst>
                            <p:childTnLst>
                              <p:par>
                                <p:cTn id="8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198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3050"/>
                            </p:stCondLst>
                            <p:childTnLst>
                              <p:par>
                                <p:cTn id="9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3600"/>
                            </p:stCondLst>
                            <p:childTnLst>
                              <p:par>
                                <p:cTn id="96" presetID="9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4180"/>
                            </p:stCondLst>
                            <p:childTnLst>
                              <p:par>
                                <p:cTn id="10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780"/>
                            </p:stCondLst>
                            <p:childTnLst>
                              <p:par>
                                <p:cTn id="10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5300"/>
                            </p:stCondLst>
                            <p:childTnLst>
                              <p:par>
                                <p:cTn id="10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5850"/>
                            </p:stCondLst>
                            <p:childTnLst>
                              <p:par>
                                <p:cTn id="11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6400"/>
                            </p:stCondLst>
                            <p:childTnLst>
                              <p:par>
                                <p:cTn id="116" presetID="9" presetClass="entr" presetSubtype="0" fill="hold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6980"/>
                            </p:stCondLst>
                            <p:childTnLst>
                              <p:par>
                                <p:cTn id="120" presetID="9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758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8100"/>
                            </p:stCondLst>
                            <p:childTnLst>
                              <p:par>
                                <p:cTn id="128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8650"/>
                            </p:stCondLst>
                            <p:childTnLst>
                              <p:par>
                                <p:cTn id="132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92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utoUpdateAnimBg="0"/>
      <p:bldP spid="10" grpId="0" animBg="1" autoUpdateAnimBg="0"/>
      <p:bldP spid="11" grpId="0" animBg="1" autoUpdateAnimBg="0"/>
      <p:bldP spid="12" grpId="0" autoUpdateAnimBg="0"/>
      <p:bldP spid="13" grpId="0" autoUpdateAnimBg="0"/>
      <p:bldP spid="15" grpId="0" animBg="1" autoUpdateAnimBg="0"/>
      <p:bldP spid="16" grpId="0" animBg="1" autoUpdateAnimBg="0"/>
      <p:bldP spid="17" grpId="0" autoUpdateAnimBg="0"/>
      <p:bldP spid="18" grpId="0" autoUpdateAnimBg="0"/>
      <p:bldP spid="20" grpId="0" animBg="1" autoUpdateAnimBg="0"/>
      <p:bldP spid="21" grpId="0" animBg="1" autoUpdateAnimBg="0"/>
      <p:bldP spid="22" grpId="0" autoUpdateAnimBg="0"/>
      <p:bldP spid="23" grpId="0" autoUpdateAnimBg="0"/>
      <p:bldP spid="25" grpId="0" animBg="1" autoUpdateAnimBg="0"/>
      <p:bldP spid="26" grpId="0" animBg="1" autoUpdateAnimBg="0"/>
      <p:bldP spid="27" grpId="0" autoUpdateAnimBg="0"/>
      <p:bldP spid="28" grpId="0" autoUpdateAnimBg="0"/>
      <p:bldP spid="30" grpId="0" animBg="1" autoUpdateAnimBg="0"/>
      <p:bldP spid="31" grpId="0" animBg="1" autoUpdateAnimBg="0"/>
      <p:bldP spid="32" grpId="0" autoUpdateAnimBg="0"/>
      <p:bldP spid="33" grpId="0" autoUpdateAnimBg="0"/>
      <p:bldP spid="35" grpId="0" animBg="1" autoUpdateAnimBg="0"/>
      <p:bldP spid="36" grpId="0" animBg="1" autoUpdateAnimBg="0"/>
      <p:bldP spid="37" grpId="0" autoUpdateAnimBg="0"/>
      <p:bldP spid="38" grpId="0" autoUpdateAnimBg="0"/>
      <p:bldP spid="3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03 - CAS D'UTILISATION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Cas d'utilisation par profil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40080" y="1508760"/>
            <a:ext cx="26243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2624328" cy="822960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/>
          <p:cNvSpPr txBox="1"/>
          <p:nvPr/>
        </p:nvSpPr>
        <p:spPr>
          <a:xfrm>
            <a:off x="777240" y="1764792"/>
            <a:ext cx="235000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Directeur(trice)</a:t>
            </a:r>
            <a:endParaRPr lang="fr-CM" sz="1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822960" y="256032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Piloter l'ensemble de l'etablissement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Valider resultats &amp; bulletins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Gerer personnel, paie, avances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Suivre toutes les statistiques</a:t>
            </a:r>
            <a:endParaRPr lang="fr-CM" sz="125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3447288" y="1508760"/>
            <a:ext cx="26243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2" name="Rectangle 11"/>
          <p:cNvSpPr/>
          <p:nvPr/>
        </p:nvSpPr>
        <p:spPr>
          <a:xfrm>
            <a:off x="3447288" y="1508760"/>
            <a:ext cx="2624328" cy="82296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ZoneTexte 12"/>
          <p:cNvSpPr txBox="1"/>
          <p:nvPr/>
        </p:nvSpPr>
        <p:spPr>
          <a:xfrm>
            <a:off x="3584448" y="1764792"/>
            <a:ext cx="235000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Secretaire</a:t>
            </a:r>
            <a:endParaRPr lang="fr-CM" sz="1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630168" y="256032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Inscriptions &amp; paiements eleves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Gestion eleves, classes, cartes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Edition bulletins &amp; recus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Suivi des impayes &amp; cas sociaux</a:t>
            </a:r>
            <a:endParaRPr lang="fr-CM" sz="125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254496" y="1508760"/>
            <a:ext cx="26243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6" name="Rectangle 15"/>
          <p:cNvSpPr/>
          <p:nvPr/>
        </p:nvSpPr>
        <p:spPr>
          <a:xfrm>
            <a:off x="6254496" y="1508760"/>
            <a:ext cx="2624328" cy="822960"/>
          </a:xfrm>
          <a:prstGeom prst="rect">
            <a:avLst/>
          </a:prstGeom>
          <a:solidFill>
            <a:srgbClr val="A78B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7" name="ZoneTexte 16"/>
          <p:cNvSpPr txBox="1"/>
          <p:nvPr/>
        </p:nvSpPr>
        <p:spPr>
          <a:xfrm>
            <a:off x="6391656" y="1764792"/>
            <a:ext cx="235000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Enseignant(e)</a:t>
            </a:r>
            <a:endParaRPr lang="fr-CM" sz="1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6437376" y="256032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Saisie des notes &amp; absences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Bulletins de sa/ses classe(s)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Conseil de classe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Mes bulletins de paie</a:t>
            </a:r>
            <a:endParaRPr lang="fr-CM" sz="125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Rectangle à coins arrondis 18"/>
          <p:cNvSpPr/>
          <p:nvPr/>
        </p:nvSpPr>
        <p:spPr>
          <a:xfrm>
            <a:off x="9061704" y="1508760"/>
            <a:ext cx="2624328" cy="4892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0" name="Rectangle 19"/>
          <p:cNvSpPr/>
          <p:nvPr/>
        </p:nvSpPr>
        <p:spPr>
          <a:xfrm>
            <a:off x="9061704" y="1508760"/>
            <a:ext cx="2624328" cy="82296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1" name="ZoneTexte 20"/>
          <p:cNvSpPr txBox="1"/>
          <p:nvPr/>
        </p:nvSpPr>
        <p:spPr>
          <a:xfrm>
            <a:off x="9198864" y="1764792"/>
            <a:ext cx="235000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600" b="1" smtClean="0">
                <a:solidFill>
                  <a:srgbClr val="FFFFFF"/>
                </a:solidFill>
                <a:latin typeface="Segoe UI" panose="020B0502040204020203" pitchFamily="34" charset="0"/>
              </a:rPr>
              <a:t>Agent financier</a:t>
            </a:r>
            <a:endParaRPr lang="fr-CM" sz="16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9244584" y="256032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Encaissements &amp; depenses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Suivi du solde de caisse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Statistiques financieres</a:t>
            </a:r>
          </a:p>
          <a:p>
            <a:pPr>
              <a:lnSpc>
                <a:spcPct val="135000"/>
              </a:lnSpc>
            </a:pPr>
            <a:r>
              <a:rPr lang="fr-CM" sz="1250" smtClean="0">
                <a:solidFill>
                  <a:srgbClr val="1E2A3A"/>
                </a:solidFill>
                <a:latin typeface="Segoe UI" panose="020B0502040204020203" pitchFamily="34" charset="0"/>
              </a:rPr>
              <a:t>- Recus, obligations, cas sociaux</a:t>
            </a:r>
            <a:endParaRPr lang="fr-CM" sz="125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038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2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87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3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2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3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17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3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42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7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72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124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79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3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44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3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69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3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34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3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959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24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76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131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3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26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3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21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3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656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3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8210"/>
                            </p:stCondLst>
                            <p:childTnLst>
                              <p:par>
                                <p:cTn id="95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8860"/>
                            </p:stCondLst>
                            <p:childTnLst>
                              <p:par>
                                <p:cTn id="99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9380"/>
                            </p:stCondLst>
                            <p:childTnLst>
                              <p:par>
                                <p:cTn id="10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9930"/>
                            </p:stCondLst>
                            <p:childTnLst>
                              <p:par>
                                <p:cTn id="107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3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3128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3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33230"/>
                            </p:stCondLst>
                            <p:childTnLst>
                              <p:par>
                                <p:cTn id="115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3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4280"/>
                            </p:stCondLst>
                            <p:childTnLst>
                              <p:par>
                                <p:cTn id="119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3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nimBg="1" autoUpdateAnimBg="0"/>
      <p:bldP spid="9" grpId="0" autoUpdateAnimBg="0"/>
      <p:bldP spid="10" grpId="0" build="p" autoUpdateAnimBg="0" advAuto="150"/>
      <p:bldP spid="11" grpId="0" animBg="1" autoUpdateAnimBg="0"/>
      <p:bldP spid="12" grpId="0" animBg="1" autoUpdateAnimBg="0"/>
      <p:bldP spid="13" grpId="0" autoUpdateAnimBg="0"/>
      <p:bldP spid="14" grpId="0" build="p" autoUpdateAnimBg="0" advAuto="150"/>
      <p:bldP spid="15" grpId="0" animBg="1" autoUpdateAnimBg="0"/>
      <p:bldP spid="16" grpId="0" animBg="1" autoUpdateAnimBg="0"/>
      <p:bldP spid="17" grpId="0" autoUpdateAnimBg="0"/>
      <p:bldP spid="18" grpId="0" build="p" autoUpdateAnimBg="0" advAuto="150"/>
      <p:bldP spid="19" grpId="0" animBg="1" autoUpdateAnimBg="0"/>
      <p:bldP spid="20" grpId="0" animBg="1" autoUpdateAnimBg="0"/>
      <p:bldP spid="21" grpId="0" autoUpdateAnimBg="0"/>
      <p:bldP spid="22" grpId="0" build="p" autoUpdateAnimBg="0" advAuto="15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04 - EN IMAGES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Apercu de l'interface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40080" y="146304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8" y="1572768"/>
            <a:ext cx="3392424" cy="3392424"/>
          </a:xfrm>
          <a:prstGeom prst="rect">
            <a:avLst/>
          </a:prstGeom>
        </p:spPr>
      </p:pic>
      <p:sp>
        <p:nvSpPr>
          <p:cNvPr id="9" name="ZoneTexte 8"/>
          <p:cNvSpPr txBox="1"/>
          <p:nvPr/>
        </p:nvSpPr>
        <p:spPr>
          <a:xfrm>
            <a:off x="640080" y="5257800"/>
            <a:ext cx="3611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Suivi des impayes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4480560" y="1463040"/>
            <a:ext cx="3611879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288" y="1572768"/>
            <a:ext cx="3392424" cy="3392424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4480560" y="5257800"/>
            <a:ext cx="3611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Bulletin de notes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8321040" y="1463040"/>
            <a:ext cx="361188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768" y="1572768"/>
            <a:ext cx="3392424" cy="3392424"/>
          </a:xfrm>
          <a:prstGeom prst="rect">
            <a:avLst/>
          </a:prstGeom>
        </p:spPr>
      </p:pic>
      <p:sp>
        <p:nvSpPr>
          <p:cNvPr id="15" name="ZoneTexte 14"/>
          <p:cNvSpPr txBox="1"/>
          <p:nvPr/>
        </p:nvSpPr>
        <p:spPr>
          <a:xfrm>
            <a:off x="8321040" y="5257800"/>
            <a:ext cx="361188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250" b="1" smtClean="0">
                <a:solidFill>
                  <a:srgbClr val="1A2744"/>
                </a:solidFill>
                <a:latin typeface="Segoe UI" panose="020B0502040204020203" pitchFamily="34" charset="0"/>
              </a:rPr>
              <a:t>Recu de paiement (QR verifiable)</a:t>
            </a:r>
            <a:endParaRPr lang="fr-CM" sz="125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4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9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45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65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3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85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15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9" grpId="0" autoUpdateAnimBg="0"/>
      <p:bldP spid="10" grpId="0" animBg="1" autoUpdateAnimBg="0"/>
      <p:bldP spid="12" grpId="0" autoUpdateAnimBg="0"/>
      <p:bldP spid="13" grpId="0" animBg="1" autoUpdateAnimBg="0"/>
      <p:bldP spid="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05 - MATERIEL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Configuration informatique requise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40080" y="1508760"/>
            <a:ext cx="534924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349240" cy="6858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/>
          <p:cNvSpPr txBox="1"/>
          <p:nvPr/>
        </p:nvSpPr>
        <p:spPr>
          <a:xfrm>
            <a:off x="868680" y="1691640"/>
            <a:ext cx="48920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b="1" smtClean="0">
                <a:solidFill>
                  <a:srgbClr val="FFFFFF"/>
                </a:solidFill>
                <a:latin typeface="Segoe UI" panose="020B0502040204020203" pitchFamily="34" charset="0"/>
              </a:rPr>
              <a:t>Poste serveur (etablissement)</a:t>
            </a:r>
            <a:endParaRPr lang="fr-CM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914400" y="242316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Windows 10/11 (ou Linux)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Processeur Intel i5 ou superieur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- 8 Go de RAM minimum (16 Go recommande)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- 100 Go d'espace disque (SSD recommande)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WAMP / XAMPP : Apache + PHP 8 + MySQL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Reseau local (Ethernet ou WiFi)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Onduleur recommande (continuite electrique)</a:t>
            </a:r>
            <a:endParaRPr lang="fr-CM" sz="130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199632" y="1508760"/>
            <a:ext cx="5349240" cy="4937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349240" cy="685800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ZoneTexte 12"/>
          <p:cNvSpPr txBox="1"/>
          <p:nvPr/>
        </p:nvSpPr>
        <p:spPr>
          <a:xfrm>
            <a:off x="6428232" y="1691640"/>
            <a:ext cx="48920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b="1" smtClean="0">
                <a:solidFill>
                  <a:srgbClr val="FFFFFF"/>
                </a:solidFill>
                <a:latin typeface="Segoe UI" panose="020B0502040204020203" pitchFamily="34" charset="0"/>
              </a:rPr>
              <a:t>Postes utilisateurs (clients)</a:t>
            </a:r>
            <a:endParaRPr lang="fr-CM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73952" y="242316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N'importe quel PC, portable ou tablette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Navigateur recent : Chrome, Edge ou Firefox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Connexion au reseau local (WiFi)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Aucune installation necessaire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Fonctionne aussi sur smartphone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Impression optionnelle pour bulletins/recus</a:t>
            </a:r>
            <a:endParaRPr lang="fr-CM" sz="130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114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2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7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2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70"/>
                            </p:stCondLst>
                            <p:childTnLst>
                              <p:par>
                                <p:cTn id="26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520"/>
                            </p:stCondLst>
                            <p:childTnLst>
                              <p:par>
                                <p:cTn id="29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370"/>
                            </p:stCondLst>
                            <p:childTnLst>
                              <p:par>
                                <p:cTn id="32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820"/>
                            </p:stCondLst>
                            <p:childTnLst>
                              <p:par>
                                <p:cTn id="35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370"/>
                            </p:stCondLst>
                            <p:childTnLst>
                              <p:par>
                                <p:cTn id="38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620"/>
                            </p:stCondLst>
                            <p:childTnLst>
                              <p:par>
                                <p:cTn id="41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270"/>
                            </p:stCondLst>
                            <p:childTnLst>
                              <p:par>
                                <p:cTn id="44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790"/>
                            </p:stCondLst>
                            <p:childTnLst>
                              <p:par>
                                <p:cTn id="47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3340"/>
                            </p:stCondLst>
                            <p:childTnLst>
                              <p:par>
                                <p:cTn id="50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890"/>
                            </p:stCondLst>
                            <p:childTnLst>
                              <p:par>
                                <p:cTn id="53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8740"/>
                            </p:stCondLst>
                            <p:childTnLst>
                              <p:par>
                                <p:cTn id="56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1290"/>
                            </p:stCondLst>
                            <p:childTnLst>
                              <p:par>
                                <p:cTn id="59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2640"/>
                            </p:stCondLst>
                            <p:childTnLst>
                              <p:par>
                                <p:cTn id="62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4290"/>
                            </p:stCondLst>
                            <p:childTnLst>
                              <p:par>
                                <p:cTn id="65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nimBg="1" autoUpdateAnimBg="0"/>
      <p:bldP spid="9" grpId="0" autoUpdateAnimBg="0"/>
      <p:bldP spid="10" grpId="0" build="p" autoUpdateAnimBg="0" advAuto="150"/>
      <p:bldP spid="11" grpId="0" animBg="1" autoUpdateAnimBg="0"/>
      <p:bldP spid="12" grpId="0" animBg="1" autoUpdateAnimBg="0"/>
      <p:bldP spid="13" grpId="0" autoUpdateAnimBg="0"/>
      <p:bldP spid="14" grpId="0" build="p" autoUpdateAnimBg="0" advAuto="15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06 - HEBERGEMENT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Local ou cloud : les avantages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40080" y="150876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349240" cy="685800"/>
          </a:xfrm>
          <a:prstGeom prst="rect">
            <a:avLst/>
          </a:prstGeom>
          <a:solidFill>
            <a:srgbClr val="60A5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/>
          <p:cNvSpPr txBox="1"/>
          <p:nvPr/>
        </p:nvSpPr>
        <p:spPr>
          <a:xfrm>
            <a:off x="868680" y="1691640"/>
            <a:ext cx="48920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b="1" smtClean="0">
                <a:solidFill>
                  <a:srgbClr val="FFFFFF"/>
                </a:solidFill>
                <a:latin typeface="Segoe UI" panose="020B0502040204020203" pitchFamily="34" charset="0"/>
              </a:rPr>
              <a:t>Hebergement local (LAN)</a:t>
            </a:r>
            <a:endParaRPr lang="fr-CM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914400" y="242316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Donnees 100% sur site (confidentialite)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Fonctionne sans connexion internet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Aucun abonnement mensuel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Tres rapide (reseau local)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Ideal pour un etablissement unique</a:t>
            </a:r>
            <a:endParaRPr lang="fr-CM" sz="130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6199632" y="1508760"/>
            <a:ext cx="534924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2" name="Rectangle 11"/>
          <p:cNvSpPr/>
          <p:nvPr/>
        </p:nvSpPr>
        <p:spPr>
          <a:xfrm>
            <a:off x="6199632" y="1508760"/>
            <a:ext cx="5349240" cy="685800"/>
          </a:xfrm>
          <a:prstGeom prst="rect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ZoneTexte 12"/>
          <p:cNvSpPr txBox="1"/>
          <p:nvPr/>
        </p:nvSpPr>
        <p:spPr>
          <a:xfrm>
            <a:off x="6428232" y="1691640"/>
            <a:ext cx="48920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b="1" smtClean="0">
                <a:solidFill>
                  <a:srgbClr val="FFFFFF"/>
                </a:solidFill>
                <a:latin typeface="Segoe UI" panose="020B0502040204020203" pitchFamily="34" charset="0"/>
              </a:rPr>
              <a:t>Hebergement Cloud</a:t>
            </a:r>
            <a:endParaRPr lang="fr-CM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6473952" y="2423160"/>
            <a:ext cx="4800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Accessible partout via internet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Sauvegardes automatiques hors site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Montee en charge facile (plusieurs sites)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Consultation a distance (direction, tuteurs)</a:t>
            </a:r>
          </a:p>
          <a:p>
            <a:pPr>
              <a:lnSpc>
                <a:spcPct val="145000"/>
              </a:lnSpc>
            </a:pPr>
            <a:r>
              <a:rPr lang="fr-CM" sz="1300" smtClean="0">
                <a:solidFill>
                  <a:srgbClr val="1E2A3A"/>
                </a:solidFill>
                <a:latin typeface="Segoe UI" panose="020B0502040204020203" pitchFamily="34" charset="0"/>
              </a:rPr>
              <a:t>- Necessite internet stable + abonnement</a:t>
            </a:r>
            <a:endParaRPr lang="fr-CM" sz="1300">
              <a:solidFill>
                <a:srgbClr val="1E2A3A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Rectangle à coins arrondis 14"/>
          <p:cNvSpPr/>
          <p:nvPr/>
        </p:nvSpPr>
        <p:spPr>
          <a:xfrm>
            <a:off x="640080" y="5806440"/>
            <a:ext cx="10908793" cy="685800"/>
          </a:xfrm>
          <a:prstGeom prst="roundRect">
            <a:avLst>
              <a:gd name="adj" fmla="val 15000"/>
            </a:avLst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6" name="ZoneTexte 15"/>
          <p:cNvSpPr txBox="1"/>
          <p:nvPr/>
        </p:nvSpPr>
        <p:spPr>
          <a:xfrm>
            <a:off x="914400" y="5943600"/>
            <a:ext cx="1033272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350" b="1" smtClean="0">
                <a:solidFill>
                  <a:srgbClr val="FFFFFF"/>
                </a:solidFill>
                <a:latin typeface="Segoe UI" panose="020B0502040204020203" pitchFamily="34" charset="0"/>
              </a:rPr>
              <a:t>SIGES prend en charge les deux : a choisir selon les besoins et le budget de l'etablissement.</a:t>
            </a:r>
            <a:endParaRPr lang="fr-CM" sz="135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789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80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32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87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72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370"/>
                            </p:stCondLst>
                            <p:childTnLst>
                              <p:par>
                                <p:cTn id="26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720"/>
                            </p:stCondLst>
                            <p:childTnLst>
                              <p:par>
                                <p:cTn id="29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970"/>
                            </p:stCondLst>
                            <p:childTnLst>
                              <p:par>
                                <p:cTn id="32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920"/>
                            </p:stCondLst>
                            <p:childTnLst>
                              <p:par>
                                <p:cTn id="35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570"/>
                            </p:stCondLst>
                            <p:childTnLst>
                              <p:par>
                                <p:cTn id="38" presetID="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090"/>
                            </p:stCondLst>
                            <p:childTnLst>
                              <p:par>
                                <p:cTn id="41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4640"/>
                            </p:stCondLst>
                            <p:childTnLst>
                              <p:par>
                                <p:cTn id="44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290"/>
                            </p:stCondLst>
                            <p:childTnLst>
                              <p:par>
                                <p:cTn id="47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7940"/>
                            </p:stCondLst>
                            <p:childTnLst>
                              <p:par>
                                <p:cTn id="50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790"/>
                            </p:stCondLst>
                            <p:childTnLst>
                              <p:par>
                                <p:cTn id="53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3640"/>
                            </p:stCondLst>
                            <p:childTnLst>
                              <p:par>
                                <p:cTn id="56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590"/>
                            </p:stCondLst>
                            <p:childTnLst>
                              <p:par>
                                <p:cTn id="59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6290"/>
                            </p:stCondLst>
                            <p:childTnLst>
                              <p:par>
                                <p:cTn id="62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nimBg="1" autoUpdateAnimBg="0"/>
      <p:bldP spid="9" grpId="0" autoUpdateAnimBg="0"/>
      <p:bldP spid="10" grpId="0" build="p" autoUpdateAnimBg="0" advAuto="150"/>
      <p:bldP spid="11" grpId="0" animBg="1" autoUpdateAnimBg="0"/>
      <p:bldP spid="12" grpId="0" animBg="1" autoUpdateAnimBg="0"/>
      <p:bldP spid="13" grpId="0" autoUpdateAnimBg="0"/>
      <p:bldP spid="14" grpId="0" build="p" autoUpdateAnimBg="0" advAuto="150"/>
      <p:bldP spid="15" grpId="0" animBg="1" autoUpdateAnimBg="0"/>
      <p:bldP spid="1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36576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640080" y="256032"/>
            <a:ext cx="548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1200" b="1" smtClean="0">
                <a:solidFill>
                  <a:srgbClr val="F0C230"/>
                </a:solidFill>
                <a:latin typeface="Segoe UI" panose="020B0502040204020203" pitchFamily="34" charset="0"/>
              </a:rPr>
              <a:t>07 - SECURITE</a:t>
            </a:r>
            <a:endParaRPr lang="fr-CM" sz="12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94360" y="5029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fr-CM" sz="2800" b="1" smtClean="0">
                <a:solidFill>
                  <a:srgbClr val="FFFFFF"/>
                </a:solidFill>
                <a:latin typeface="Georgia" panose="02040502050405020303" pitchFamily="18" charset="0"/>
              </a:rPr>
              <a:t>Securite &amp; fiabilite</a:t>
            </a:r>
            <a:endParaRPr lang="fr-CM" sz="2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40080" y="1737360"/>
            <a:ext cx="2624328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8" name="Rectangle à coins arrondis 7"/>
          <p:cNvSpPr/>
          <p:nvPr/>
        </p:nvSpPr>
        <p:spPr>
          <a:xfrm>
            <a:off x="1449324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9" name="ZoneTexte 8"/>
          <p:cNvSpPr txBox="1"/>
          <p:nvPr/>
        </p:nvSpPr>
        <p:spPr>
          <a:xfrm>
            <a:off x="1449324" y="2221992"/>
            <a:ext cx="10058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0C230"/>
                </a:solidFill>
                <a:latin typeface="Segoe UI" panose="020B0502040204020203" pitchFamily="34" charset="0"/>
              </a:rPr>
              <a:t>ROLES</a:t>
            </a:r>
            <a:endParaRPr lang="fr-CM" sz="15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40080" y="3337560"/>
            <a:ext cx="262432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1A2744"/>
                </a:solidFill>
                <a:latin typeface="Segoe UI" panose="020B0502040204020203" pitchFamily="34" charset="0"/>
              </a:rPr>
              <a:t>Comptes &amp; roles</a:t>
            </a:r>
            <a:endParaRPr lang="fr-CM" sz="15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822960" y="384048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150" smtClean="0">
                <a:solidFill>
                  <a:srgbClr val="6B7280"/>
                </a:solidFill>
                <a:latin typeface="Segoe UI" panose="020B0502040204020203" pitchFamily="34" charset="0"/>
              </a:rPr>
              <a:t>Chaque utilisateur ne voit que ce qui correspond a son role (Directeur, Secretaire, Enseignant, Agent financier).</a:t>
            </a:r>
            <a:endParaRPr lang="fr-CM" sz="11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3447288" y="1737360"/>
            <a:ext cx="2624328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3" name="Rectangle à coins arrondis 12"/>
          <p:cNvSpPr/>
          <p:nvPr/>
        </p:nvSpPr>
        <p:spPr>
          <a:xfrm>
            <a:off x="4256532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4" name="ZoneTexte 13"/>
          <p:cNvSpPr txBox="1"/>
          <p:nvPr/>
        </p:nvSpPr>
        <p:spPr>
          <a:xfrm>
            <a:off x="4256532" y="2221992"/>
            <a:ext cx="10058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0C230"/>
                </a:solidFill>
                <a:latin typeface="Segoe UI" panose="020B0502040204020203" pitchFamily="34" charset="0"/>
              </a:rPr>
              <a:t>QR</a:t>
            </a:r>
            <a:endParaRPr lang="fr-CM" sz="15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3447288" y="3337560"/>
            <a:ext cx="262432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1A2744"/>
                </a:solidFill>
                <a:latin typeface="Segoe UI" panose="020B0502040204020203" pitchFamily="34" charset="0"/>
              </a:rPr>
              <a:t>Documents verifiables</a:t>
            </a:r>
            <a:endParaRPr lang="fr-CM" sz="15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630168" y="384048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150" smtClean="0">
                <a:solidFill>
                  <a:srgbClr val="6B7280"/>
                </a:solidFill>
                <a:latin typeface="Segoe UI" panose="020B0502040204020203" pitchFamily="34" charset="0"/>
              </a:rPr>
              <a:t>Bulletins et recus portent un QR code signe, verifiable meme hors ligne.</a:t>
            </a:r>
            <a:endParaRPr lang="fr-CM" sz="11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6254496" y="1737360"/>
            <a:ext cx="2624328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8" name="Rectangle à coins arrondis 17"/>
          <p:cNvSpPr/>
          <p:nvPr/>
        </p:nvSpPr>
        <p:spPr>
          <a:xfrm>
            <a:off x="7063740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19" name="ZoneTexte 18"/>
          <p:cNvSpPr txBox="1"/>
          <p:nvPr/>
        </p:nvSpPr>
        <p:spPr>
          <a:xfrm>
            <a:off x="7063740" y="2221992"/>
            <a:ext cx="10058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0C230"/>
                </a:solidFill>
                <a:latin typeface="Segoe UI" panose="020B0502040204020203" pitchFamily="34" charset="0"/>
              </a:rPr>
              <a:t>SAVE</a:t>
            </a:r>
            <a:endParaRPr lang="fr-CM" sz="15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6254496" y="3337560"/>
            <a:ext cx="262432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1A2744"/>
                </a:solidFill>
                <a:latin typeface="Segoe UI" panose="020B0502040204020203" pitchFamily="34" charset="0"/>
              </a:rPr>
              <a:t>Sauvegardes</a:t>
            </a:r>
            <a:endParaRPr lang="fr-CM" sz="15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6437376" y="384048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150" smtClean="0">
                <a:solidFill>
                  <a:srgbClr val="6B7280"/>
                </a:solidFill>
                <a:latin typeface="Segoe UI" panose="020B0502040204020203" pitchFamily="34" charset="0"/>
              </a:rPr>
              <a:t>Les donnees peuvent etre sauvegardees regulierement, en local ou hors site.</a:t>
            </a:r>
            <a:endParaRPr lang="fr-CM" sz="11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Rectangle à coins arrondis 21"/>
          <p:cNvSpPr/>
          <p:nvPr/>
        </p:nvSpPr>
        <p:spPr>
          <a:xfrm>
            <a:off x="9061704" y="1737360"/>
            <a:ext cx="2624328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 cap="flat" cmpd="sng" algn="ctr">
            <a:solidFill>
              <a:srgbClr val="E2DED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3" name="Rectangle à coins arrondis 22"/>
          <p:cNvSpPr/>
          <p:nvPr/>
        </p:nvSpPr>
        <p:spPr>
          <a:xfrm>
            <a:off x="9870948" y="205740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24" name="ZoneTexte 23"/>
          <p:cNvSpPr txBox="1"/>
          <p:nvPr/>
        </p:nvSpPr>
        <p:spPr>
          <a:xfrm>
            <a:off x="9870948" y="2221992"/>
            <a:ext cx="100584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F0C230"/>
                </a:solidFill>
                <a:latin typeface="Segoe UI" panose="020B0502040204020203" pitchFamily="34" charset="0"/>
              </a:rPr>
              <a:t>LOG</a:t>
            </a:r>
            <a:endParaRPr lang="fr-CM" sz="15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9061704" y="3337560"/>
            <a:ext cx="262432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500" b="1" smtClean="0">
                <a:solidFill>
                  <a:srgbClr val="1A2744"/>
                </a:solidFill>
                <a:latin typeface="Segoe UI" panose="020B0502040204020203" pitchFamily="34" charset="0"/>
              </a:rPr>
              <a:t>Tracabilite</a:t>
            </a:r>
            <a:endParaRPr lang="fr-CM" sz="1500" b="1">
              <a:solidFill>
                <a:srgbClr val="1A2744"/>
              </a:solidFill>
              <a:latin typeface="Segoe UI" panose="020B0502040204020203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9244584" y="3840480"/>
            <a:ext cx="2258568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150" smtClean="0">
                <a:solidFill>
                  <a:srgbClr val="6B7280"/>
                </a:solidFill>
                <a:latin typeface="Segoe UI" panose="020B0502040204020203" pitchFamily="34" charset="0"/>
              </a:rPr>
              <a:t>Chaque operation (paiement, note, modification) reste historisee.</a:t>
            </a:r>
            <a:endParaRPr lang="fr-CM" sz="1150">
              <a:solidFill>
                <a:srgbClr val="6B728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304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5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5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8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38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9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45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65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3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75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3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85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8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6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915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9700"/>
                            </p:stCondLst>
                            <p:childTnLst>
                              <p:par>
                                <p:cTn id="71" presetID="9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35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930"/>
                            </p:stCondLst>
                            <p:childTnLst>
                              <p:par>
                                <p:cTn id="79" presetID="9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1450"/>
                            </p:stCondLst>
                            <p:childTnLst>
                              <p:par>
                                <p:cTn id="83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2000"/>
                            </p:stCondLst>
                            <p:childTnLst>
                              <p:par>
                                <p:cTn id="87" presetID="9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nimBg="1" autoUpdateAnimBg="0"/>
      <p:bldP spid="8" grpId="0" animBg="1" autoUpdateAnimBg="0"/>
      <p:bldP spid="9" grpId="0" autoUpdateAnimBg="0"/>
      <p:bldP spid="10" grpId="0" autoUpdateAnimBg="0"/>
      <p:bldP spid="11" grpId="0" autoUpdateAnimBg="0"/>
      <p:bldP spid="12" grpId="0" animBg="1" autoUpdateAnimBg="0"/>
      <p:bldP spid="13" grpId="0" animBg="1" autoUpdateAnimBg="0"/>
      <p:bldP spid="14" grpId="0" autoUpdateAnimBg="0"/>
      <p:bldP spid="15" grpId="0" autoUpdateAnimBg="0"/>
      <p:bldP spid="16" grpId="0" autoUpdateAnimBg="0"/>
      <p:bldP spid="17" grpId="0" animBg="1" autoUpdateAnimBg="0"/>
      <p:bldP spid="18" grpId="0" animBg="1" autoUpdateAnimBg="0"/>
      <p:bldP spid="19" grpId="0" autoUpdateAnimBg="0"/>
      <p:bldP spid="20" grpId="0" autoUpdateAnimBg="0"/>
      <p:bldP spid="21" grpId="0" autoUpdateAnimBg="0"/>
      <p:bldP spid="22" grpId="0" animBg="1" autoUpdateAnimBg="0"/>
      <p:bldP spid="23" grpId="0" animBg="1" autoUpdateAnimBg="0"/>
      <p:bldP spid="24" grpId="0" autoUpdateAnimBg="0"/>
      <p:bldP spid="25" grpId="0" autoUpdateAnimBg="0"/>
      <p:bldP spid="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3" name="ZoneTexte 2"/>
          <p:cNvSpPr txBox="1"/>
          <p:nvPr/>
        </p:nvSpPr>
        <p:spPr>
          <a:xfrm>
            <a:off x="1524305" y="118872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6000" b="1" smtClean="0">
                <a:solidFill>
                  <a:srgbClr val="FFFFFF"/>
                </a:solidFill>
                <a:latin typeface="Georgia" panose="02040502050405020303" pitchFamily="18" charset="0"/>
              </a:rPr>
              <a:t>Merci</a:t>
            </a:r>
            <a:endParaRPr lang="fr-CM" sz="6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39105" y="2148840"/>
            <a:ext cx="914400" cy="27432"/>
          </a:xfrm>
          <a:prstGeom prst="rect">
            <a:avLst/>
          </a:prstGeom>
          <a:solidFill>
            <a:srgbClr val="C8960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/>
          </a:p>
        </p:txBody>
      </p:sp>
      <p:sp>
        <p:nvSpPr>
          <p:cNvPr id="5" name="ZoneTexte 4"/>
          <p:cNvSpPr txBox="1"/>
          <p:nvPr/>
        </p:nvSpPr>
        <p:spPr>
          <a:xfrm>
            <a:off x="1524305" y="2514600"/>
            <a:ext cx="914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2000" b="1" smtClean="0">
                <a:solidFill>
                  <a:srgbClr val="F0C230"/>
                </a:solidFill>
                <a:latin typeface="Segoe UI" panose="020B0502040204020203" pitchFamily="34" charset="0"/>
              </a:rPr>
              <a:t>Prochaines etapes</a:t>
            </a:r>
            <a:endParaRPr lang="fr-CM" sz="2000" b="1">
              <a:solidFill>
                <a:srgbClr val="F0C23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4267505" y="3200400"/>
            <a:ext cx="457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lnSpc>
                <a:spcPct val="160000"/>
              </a:lnSpc>
            </a:pPr>
            <a:r>
              <a:rPr lang="fr-CM" sz="1550" smtClean="0">
                <a:solidFill>
                  <a:srgbClr val="FFFFFF"/>
                </a:solidFill>
                <a:latin typeface="Segoe UI" panose="020B0502040204020203" pitchFamily="34" charset="0"/>
              </a:rPr>
              <a:t>1.  Formation des utilisateurs par profil</a:t>
            </a:r>
          </a:p>
          <a:p>
            <a:pPr>
              <a:lnSpc>
                <a:spcPct val="160000"/>
              </a:lnSpc>
            </a:pPr>
            <a:r>
              <a:rPr lang="fr-CM" sz="1550" smtClean="0">
                <a:solidFill>
                  <a:srgbClr val="FFFFFF"/>
                </a:solidFill>
                <a:latin typeface="Segoe UI" panose="020B0502040204020203" pitchFamily="34" charset="0"/>
              </a:rPr>
              <a:t>2.  Demarrage accompagne sur l'annee en cours</a:t>
            </a:r>
          </a:p>
          <a:p>
            <a:pPr>
              <a:lnSpc>
                <a:spcPct val="160000"/>
              </a:lnSpc>
            </a:pPr>
            <a:r>
              <a:rPr lang="fr-CM" sz="1550" smtClean="0">
                <a:solidFill>
                  <a:srgbClr val="FFFFFF"/>
                </a:solidFill>
                <a:latin typeface="Segoe UI" panose="020B0502040204020203" pitchFamily="34" charset="0"/>
              </a:rPr>
              <a:t>3.  Support continu pour toute question</a:t>
            </a:r>
            <a:endParaRPr lang="fr-CM" sz="155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1524305" y="6126480"/>
            <a:ext cx="9144000" cy="36576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fr-CM" sz="1300" smtClean="0">
                <a:solidFill>
                  <a:srgbClr val="AEB5C9"/>
                </a:solidFill>
                <a:latin typeface="Segoe UI" panose="020B0502040204020203" pitchFamily="34" charset="0"/>
              </a:rPr>
              <a:t>SIGES - GSBI Les Poussins de Jaynitaare</a:t>
            </a:r>
            <a:endParaRPr lang="fr-CM" sz="1300">
              <a:solidFill>
                <a:srgbClr val="AEB5C9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100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800"/>
                            </p:stCondLst>
                            <p:childTnLst>
                              <p:par>
                                <p:cTn id="8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450"/>
                            </p:stCondLst>
                            <p:childTnLst>
                              <p:par>
                                <p:cTn id="11" presetID="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50"/>
                            </p:stCondLst>
                            <p:childTnLst>
                              <p:par>
                                <p:cTn id="14" presetID="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150"/>
                            </p:stCondLst>
                            <p:childTnLst>
                              <p:par>
                                <p:cTn id="20" presetID="0" presetClass="entr" presetSubtype="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500"/>
                            </p:stCondLst>
                            <p:childTnLst>
                              <p:par>
                                <p:cTn id="23" presetID="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 autoUpdateAnimBg="0"/>
      <p:bldP spid="5" grpId="0" autoUpdateAnimBg="0"/>
      <p:bldP spid="6" grpId="0" build="p" autoUpdateAnimBg="0" advAuto="250"/>
      <p:bldP spid="7" grpId="0" autoUpdateAnimBg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Personnalisé</PresentationFormat>
  <Paragraphs>134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Georgia</vt:lpstr>
      <vt:lpstr>Segoe UI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ABDOUL-AZIZ YAHYA</dc:creator>
  <cp:lastModifiedBy>ABDOUL-AZIZ YAHYA</cp:lastModifiedBy>
  <cp:revision>1</cp:revision>
  <dcterms:created xsi:type="dcterms:W3CDTF">2026-08-26T11:39:41Z</dcterms:created>
  <dcterms:modified xsi:type="dcterms:W3CDTF">2026-08-26T11:39:42Z</dcterms:modified>
</cp:coreProperties>
</file>